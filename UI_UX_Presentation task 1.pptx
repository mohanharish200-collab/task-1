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FF5CA16-3DE6-4429-96E6-AA1DA6B8390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C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73E81B-695B-4E87-A7C6-0E6EE46D2826}" v="8" dt="2026-08-13T05:47:06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2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r" userId="253850081655e292" providerId="LiveId" clId="{153F0BAB-4615-4CDB-949A-5D47B5B15170}"/>
    <pc:docChg chg="undo custSel modSld">
      <pc:chgData name="mohan r" userId="253850081655e292" providerId="LiveId" clId="{153F0BAB-4615-4CDB-949A-5D47B5B15170}" dt="2026-08-13T05:50:37.099" v="24" actId="1076"/>
      <pc:docMkLst>
        <pc:docMk/>
      </pc:docMkLst>
      <pc:sldChg chg="modTransition">
        <pc:chgData name="mohan r" userId="253850081655e292" providerId="LiveId" clId="{153F0BAB-4615-4CDB-949A-5D47B5B15170}" dt="2026-08-13T05:47:06.233" v="7"/>
        <pc:sldMkLst>
          <pc:docMk/>
          <pc:sldMk cId="0" sldId="264"/>
        </pc:sldMkLst>
      </pc:sldChg>
      <pc:sldChg chg="modSp mod">
        <pc:chgData name="mohan r" userId="253850081655e292" providerId="LiveId" clId="{153F0BAB-4615-4CDB-949A-5D47B5B15170}" dt="2026-08-13T05:50:37.099" v="24" actId="1076"/>
        <pc:sldMkLst>
          <pc:docMk/>
          <pc:sldMk cId="2724782826" sldId="269"/>
        </pc:sldMkLst>
        <pc:spChg chg="mod">
          <ac:chgData name="mohan r" userId="253850081655e292" providerId="LiveId" clId="{153F0BAB-4615-4CDB-949A-5D47B5B15170}" dt="2026-08-13T05:50:37.099" v="24" actId="1076"/>
          <ac:spMkLst>
            <pc:docMk/>
            <pc:sldMk cId="2724782826" sldId="269"/>
            <ac:spMk id="10" creationId="{86219B43-E04B-6431-8F9B-8F4AEBB70607}"/>
          </ac:spMkLst>
        </pc:spChg>
        <pc:spChg chg="mod">
          <ac:chgData name="mohan r" userId="253850081655e292" providerId="LiveId" clId="{153F0BAB-4615-4CDB-949A-5D47B5B15170}" dt="2026-08-13T05:50:36.697" v="22" actId="1076"/>
          <ac:spMkLst>
            <pc:docMk/>
            <pc:sldMk cId="2724782826" sldId="269"/>
            <ac:spMk id="12" creationId="{776350BC-B9B8-FB73-A51B-D2800301ADC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554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55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715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5536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766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911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264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23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28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79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1391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662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2276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25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4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715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859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" name="type.wav"/>
          </p:stSnd>
        </p:sndAc>
      </p:transition>
    </mc:Choice>
    <mc:Fallback>
      <p:transition spd="slow">
        <p:pull/>
        <p:sndAc>
          <p:stSnd>
            <p:snd r:embed="rId1" name="typ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30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19" name="type.wav"/>
          </p:stSnd>
        </p:sndAc>
      </p:transition>
    </mc:Choice>
    <mc:Fallback>
      <p:transition spd="slow">
        <p:pull/>
        <p:sndAc>
          <p:stSnd>
            <p:snd r:embed="rId19" name="type.wav"/>
          </p:stSnd>
        </p:sndAc>
      </p:transition>
    </mc:Fallback>
  </mc:AlternateConten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UI &amp; UX Design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4F6"/>
                </a:solidFill>
              </a:rPr>
              <a:t>User Interface &amp; User Experience Essentials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UI (User Interface)?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UI is the visual and interactive elements that users see and interact with: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Buttons, menus, icons, typography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Layout, colors, spacing, and visual hierarchy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Forms, navigation, and controls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Animations and transitions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200400" cy="3657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UI Example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27432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Button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Input Field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51460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</a:rPr>
              <a:t>Checkbox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3291840"/>
            <a:ext cx="27432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Remember me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UX (User Experience)?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UX is the overall experience a user has when interacting with a product: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User research and understanding needs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Information architecture and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Accessibility and usability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</a:rPr>
              <a:t>• Performance and reliability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User Journey Example: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3456432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Visit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0116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77440" y="3456432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Browse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3456432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Select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120640" y="3456432"/>
            <a:ext cx="100584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Checkout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291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827"/>
                </a:solidFill>
              </a:rPr>
              <a:t>Confirm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UI vs UX: Key Differences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UI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Focuses on look &amp; feel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Visual design elements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Aesthetic choices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Interaction 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Responsive layouts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F3F4F6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UX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Focuses on experience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User research &amp; testing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560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Problem solving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Accessibility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→ User satisfaction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Case Study: E-Commerce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657600"/>
          </a:xfrm>
          <a:prstGeom prst="rect">
            <a:avLst/>
          </a:prstGeom>
          <a:solidFill>
            <a:srgbClr val="F0E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UI Improvements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Modern button design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84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High-contrast colors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68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Consistent iconography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523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Clean product grid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36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Smooth transitions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6576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UX Improvements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600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Faster checkout (3 clicks)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984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Mobile-first approach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368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One-click payment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75234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Clear product info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1363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</a:rPr>
              <a:t>✓ Easy returns process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389120"/>
            <a:ext cx="694944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480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45% increase in conversions, 3x user satisfaction improvement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UI Design Best Practices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Consistency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Use same colors, fonts, and spacing throughout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Hierarchy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Make important elements visually prominent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Whitespace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377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Don't overcrowd—let content breathe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Accessibility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0175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Ensure enough contrast and readable fonts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Responsiveness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657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Adapt beautifully to all screen sizes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UX Design Best Practices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User Research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09728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Understand your users' needs and pain points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Simplicity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Remove unnecessary steps and complexity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Feedback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37744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Provide clear confirmation for user 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017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Testing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0" y="301752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Regularly test with real users and iterate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Performance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86000" y="36576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Make apps fast—slow experiences frustrate users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Design Process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Research users &amp; market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73736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1188720"/>
            <a:ext cx="14630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Define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Clarify goals &amp; problems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77640" y="173736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1188720"/>
            <a:ext cx="14630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Design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3484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Create wireframes &amp; mockups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97880" y="173736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1188720"/>
            <a:ext cx="14630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Test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Validate with users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818120" y="1737360"/>
            <a:ext cx="2743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563EB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1188720"/>
            <a:ext cx="146304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18288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Iterate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75320" y="2148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</a:rPr>
              <a:t>Improve based on feedback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Tools for UI/UX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657600"/>
          </a:xfrm>
          <a:prstGeom prst="rect">
            <a:avLst/>
          </a:prstGeom>
          <a:solidFill>
            <a:srgbClr val="F0F9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Design 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Figma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Adobe XD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Sketch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Webflow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365760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Research &amp; Testing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UserTesting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Hotjar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Maze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• Optimal Workshop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  <p:sndAc>
          <p:stSnd>
            <p:snd r:embed="rId3" name="type.wav"/>
          </p:stSnd>
        </p:sndAc>
      </p:transition>
    </mc:Choice>
    <mc:Fallback>
      <p:transition spd="slow">
        <p:fade/>
        <p:sndAc>
          <p:stSnd>
            <p:snd r:embed="rId3" name="type.wav"/>
          </p:stSnd>
        </p:sndAc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Great UI + Great UX =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</a:rPr>
              <a:t>Happy Users &amp; Successful Products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3F4F6"/>
                </a:solidFill>
              </a:rPr>
              <a:t>Remember: Design is not just about aesthetics—it's about solving real problems for real people.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3" name="type.wav"/>
          </p:stSnd>
        </p:sndAc>
      </p:transition>
    </mc:Choice>
    <mc:Fallback>
      <p:transition spd="slow">
        <p:pull/>
        <p:sndAc>
          <p:stSnd>
            <p:snd r:embed="rId3" name="type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F5ED-36B7-4ACC-56C2-A7407F68808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1499" y="450850"/>
            <a:ext cx="3499757" cy="400050"/>
          </a:xfrm>
        </p:spPr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US" dirty="0">
                <a:latin typeface="Eras Bold ITC" panose="020B0907030504020204" pitchFamily="34" charset="0"/>
              </a:rPr>
              <a:t>Play store APP </a:t>
            </a:r>
            <a:endParaRPr lang="en-IN" dirty="0">
              <a:latin typeface="Eras Bold ITC" panose="020B0907030504020204" pitchFamily="34" charset="0"/>
            </a:endParaRPr>
          </a:p>
        </p:txBody>
      </p:sp>
      <p:pic>
        <p:nvPicPr>
          <p:cNvPr id="5" name="Content Placeholder 4" descr="A screenshot of a phone&#10;&#10;AI-generated content may be incorrect.">
            <a:extLst>
              <a:ext uri="{FF2B5EF4-FFF2-40B4-BE49-F238E27FC236}">
                <a16:creationId xmlns:a16="http://schemas.microsoft.com/office/drawing/2014/main" id="{2502BC98-D4A6-99BD-B66B-667A8D1EEF0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tretch>
            <a:fillRect/>
          </a:stretch>
        </p:blipFill>
        <p:spPr>
          <a:xfrm>
            <a:off x="0" y="1389857"/>
            <a:ext cx="4203700" cy="290988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C07735-9710-DA78-A4F6-ADC26466C1F3}"/>
              </a:ext>
            </a:extLst>
          </p:cNvPr>
          <p:cNvSpPr/>
          <p:nvPr/>
        </p:nvSpPr>
        <p:spPr>
          <a:xfrm>
            <a:off x="5257800" y="544512"/>
            <a:ext cx="2550318" cy="5056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UI and UX of play store   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7B9BE-8C0A-C4E5-CF13-A08F207805A4}"/>
              </a:ext>
            </a:extLst>
          </p:cNvPr>
          <p:cNvSpPr/>
          <p:nvPr/>
        </p:nvSpPr>
        <p:spPr>
          <a:xfrm>
            <a:off x="4382293" y="1182688"/>
            <a:ext cx="189707" cy="3446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FF2A8-3A3F-1F87-72B2-33D20408A059}"/>
              </a:ext>
            </a:extLst>
          </p:cNvPr>
          <p:cNvSpPr/>
          <p:nvPr/>
        </p:nvSpPr>
        <p:spPr>
          <a:xfrm>
            <a:off x="4943475" y="1443038"/>
            <a:ext cx="3571875" cy="33932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423219-16AE-9319-AA09-6BFC29391C89}"/>
              </a:ext>
            </a:extLst>
          </p:cNvPr>
          <p:cNvSpPr txBox="1"/>
          <p:nvPr/>
        </p:nvSpPr>
        <p:spPr>
          <a:xfrm>
            <a:off x="4886325" y="1443038"/>
            <a:ext cx="37433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🎨 </a:t>
            </a:r>
            <a:r>
              <a:rPr lang="en-US" b="1" dirty="0">
                <a:solidFill>
                  <a:srgbClr val="002060"/>
                </a:solidFill>
              </a:rPr>
              <a:t>UI:</a:t>
            </a:r>
            <a:r>
              <a:rPr lang="en-US" dirty="0">
                <a:solidFill>
                  <a:srgbClr val="002060"/>
                </a:solidFill>
              </a:rPr>
              <a:t> The “Install” button is green, rounded, and clearly visible. 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👍 </a:t>
            </a:r>
            <a:r>
              <a:rPr lang="en-US" b="1" dirty="0">
                <a:solidFill>
                  <a:srgbClr val="002060"/>
                </a:solidFill>
              </a:rPr>
              <a:t>UX:</a:t>
            </a:r>
            <a:r>
              <a:rPr lang="en-US" dirty="0">
                <a:solidFill>
                  <a:srgbClr val="002060"/>
                </a:solidFill>
              </a:rPr>
              <a:t> You can find an app quickly, understand what it does, tap </a:t>
            </a:r>
            <a:r>
              <a:rPr lang="en-US" b="1" dirty="0">
                <a:solidFill>
                  <a:srgbClr val="002060"/>
                </a:solidFill>
              </a:rPr>
              <a:t>Install</a:t>
            </a:r>
            <a:r>
              <a:rPr lang="en-US" dirty="0">
                <a:solidFill>
                  <a:srgbClr val="002060"/>
                </a:solidFill>
              </a:rPr>
              <a:t>, and easily see the download progress.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So, </a:t>
            </a:r>
            <a:r>
              <a:rPr lang="en-US" b="1" dirty="0">
                <a:solidFill>
                  <a:srgbClr val="002060"/>
                </a:solidFill>
              </a:rPr>
              <a:t>UI = how it looks; UX = how it works/feels.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2852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2" name="type.wav"/>
          </p:stSnd>
        </p:sndAc>
      </p:transition>
    </mc:Choice>
    <mc:Fallback>
      <p:transition spd="slow">
        <p:pull/>
        <p:sndAc>
          <p:stSnd>
            <p:snd r:embed="rId2" name="typ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A1DBA0-BCC1-11C6-2E15-0201213E6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7" y="299207"/>
            <a:ext cx="3480252" cy="553639"/>
          </a:xfrm>
        </p:spPr>
        <p:txBody>
          <a:bodyPr/>
          <a:lstStyle/>
          <a:p>
            <a:r>
              <a:rPr lang="en-US" sz="2400" dirty="0">
                <a:solidFill>
                  <a:srgbClr val="64CAED"/>
                </a:solidFill>
                <a:latin typeface="Eras Bold ITC" panose="020B0907030504020204" pitchFamily="34" charset="0"/>
              </a:rPr>
              <a:t>2 .  WhatsApp APP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1A6548-43B6-8A38-0438-613DA1D7E6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1936" y="1278733"/>
            <a:ext cx="3101053" cy="3173412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1E532F-EB4A-0696-65B0-973C0957702D}"/>
              </a:ext>
            </a:extLst>
          </p:cNvPr>
          <p:cNvSpPr txBox="1"/>
          <p:nvPr/>
        </p:nvSpPr>
        <p:spPr>
          <a:xfrm>
            <a:off x="5464969" y="315281"/>
            <a:ext cx="2650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UI and UX of WhatsApp  </a:t>
            </a:r>
            <a:endParaRPr lang="en-IN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4713EB-C0AE-5EC7-9506-585FDD9B9707}"/>
              </a:ext>
            </a:extLst>
          </p:cNvPr>
          <p:cNvSpPr/>
          <p:nvPr/>
        </p:nvSpPr>
        <p:spPr>
          <a:xfrm>
            <a:off x="3975497" y="1064419"/>
            <a:ext cx="250031" cy="35718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B6B33-A656-20E9-DB1E-A1DE42206D97}"/>
              </a:ext>
            </a:extLst>
          </p:cNvPr>
          <p:cNvSpPr txBox="1"/>
          <p:nvPr/>
        </p:nvSpPr>
        <p:spPr>
          <a:xfrm>
            <a:off x="4442951" y="776946"/>
            <a:ext cx="4064794" cy="455509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UI (User Interface)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= how WhatsApp </a:t>
            </a: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</a:rPr>
              <a:t>looks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.</a:t>
            </a:r>
          </a:p>
          <a:p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Chat screen layout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Colors and icons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Fonts and buttons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Profile pictures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Call and chat tabs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chemeClr val="accent2">
                    <a:lumMod val="50000"/>
                  </a:schemeClr>
                </a:solidFill>
              </a:rPr>
              <a:t> Message bubbles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1200" b="1" dirty="0">
                <a:solidFill>
                  <a:srgbClr val="002060"/>
                </a:solidFill>
              </a:rPr>
              <a:t>UX (User Experience)</a:t>
            </a:r>
            <a:r>
              <a:rPr lang="en-US" sz="1200" dirty="0">
                <a:solidFill>
                  <a:srgbClr val="002060"/>
                </a:solidFill>
              </a:rPr>
              <a:t> = how WhatsApp </a:t>
            </a:r>
            <a:r>
              <a:rPr lang="en-US" sz="1200" b="1" dirty="0">
                <a:solidFill>
                  <a:srgbClr val="002060"/>
                </a:solidFill>
              </a:rPr>
              <a:t>feels and works</a:t>
            </a:r>
            <a:r>
              <a:rPr lang="en-US" sz="1200" dirty="0">
                <a:solidFill>
                  <a:srgbClr val="002060"/>
                </a:solidFill>
              </a:rPr>
              <a:t> when you use it.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How easily you can send a message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How quickly you can find a chat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How simple it is to make a voice/video call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How smoothly you can share photos or documents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>
                <a:solidFill>
                  <a:srgbClr val="002060"/>
                </a:solidFill>
              </a:rPr>
              <a:t>Whether notifications and navigation are intuitive</a:t>
            </a:r>
          </a:p>
          <a:p>
            <a:endParaRPr lang="en-US" sz="1000" dirty="0">
              <a:solidFill>
                <a:srgbClr val="002060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rgbClr val="002060"/>
                </a:solidFill>
              </a:rPr>
              <a:t>Simple example:</a:t>
            </a:r>
            <a:br>
              <a:rPr lang="en-US" sz="1200" dirty="0">
                <a:solidFill>
                  <a:srgbClr val="002060"/>
                </a:solidFill>
              </a:rPr>
            </a:br>
            <a:r>
              <a:rPr lang="en-US" sz="1200" dirty="0">
                <a:solidFill>
                  <a:srgbClr val="002060"/>
                </a:solidFill>
              </a:rPr>
              <a:t>The green </a:t>
            </a:r>
            <a:r>
              <a:rPr lang="en-US" sz="1200" b="1" dirty="0">
                <a:solidFill>
                  <a:srgbClr val="002060"/>
                </a:solidFill>
              </a:rPr>
              <a:t>Send</a:t>
            </a:r>
            <a:r>
              <a:rPr lang="en-US" sz="1200" dirty="0">
                <a:solidFill>
                  <a:srgbClr val="002060"/>
                </a:solidFill>
              </a:rPr>
              <a:t> button is UI.</a:t>
            </a:r>
            <a:br>
              <a:rPr lang="en-US" sz="1200" dirty="0">
                <a:solidFill>
                  <a:srgbClr val="002060"/>
                </a:solidFill>
              </a:rPr>
            </a:br>
            <a:r>
              <a:rPr lang="en-US" sz="1200" dirty="0">
                <a:solidFill>
                  <a:srgbClr val="002060"/>
                </a:solidFill>
              </a:rPr>
              <a:t>Being able to quickly find and press it to send a message is UX.</a:t>
            </a:r>
          </a:p>
          <a:p>
            <a:endParaRPr lang="en-US" sz="10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51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2" name="type.wav"/>
          </p:stSnd>
        </p:sndAc>
      </p:transition>
    </mc:Choice>
    <mc:Fallback>
      <p:transition spd="slow">
        <p:pull/>
        <p:sndAc>
          <p:stSnd>
            <p:snd r:embed="rId2" name="type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3CE0-9B11-BC60-9F08-205984433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295393"/>
            <a:ext cx="3599541" cy="550069"/>
          </a:xfrm>
        </p:spPr>
        <p:txBody>
          <a:bodyPr>
            <a:normAutofit/>
          </a:bodyPr>
          <a:lstStyle/>
          <a:p>
            <a:r>
              <a:rPr lang="en-US" dirty="0">
                <a:latin typeface="Eras Bold ITC" panose="020B0907030504020204" pitchFamily="34" charset="0"/>
              </a:rPr>
              <a:t>3.   Google pay app </a:t>
            </a:r>
            <a:endParaRPr lang="en-IN" dirty="0">
              <a:latin typeface="Eras Bold ITC" panose="020B0907030504020204" pitchFamily="34" charset="0"/>
            </a:endParaRPr>
          </a:p>
        </p:txBody>
      </p:sp>
      <p:pic>
        <p:nvPicPr>
          <p:cNvPr id="5" name="Content Placeholder 4" descr="A screen shot of a phone&#10;&#10;AI-generated content may be incorrect.">
            <a:extLst>
              <a:ext uri="{FF2B5EF4-FFF2-40B4-BE49-F238E27FC236}">
                <a16:creationId xmlns:a16="http://schemas.microsoft.com/office/drawing/2014/main" id="{8FEF2F02-DACE-3D3D-DE13-15718C256A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08002" y="1447800"/>
            <a:ext cx="1372250" cy="29098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Content Placeholder 7" descr="A qr code with a circle in the middle&#10;&#10;AI-generated content may be incorrect.">
            <a:extLst>
              <a:ext uri="{FF2B5EF4-FFF2-40B4-BE49-F238E27FC236}">
                <a16:creationId xmlns:a16="http://schemas.microsoft.com/office/drawing/2014/main" id="{AA00B75A-352E-14EA-77DD-E3D3D2F814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183717" y="1366441"/>
            <a:ext cx="1863329" cy="30726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bg2">
                <a:lumMod val="10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2ADEC69-74C4-5B40-4FF8-A79EF53BEC92}"/>
              </a:ext>
            </a:extLst>
          </p:cNvPr>
          <p:cNvSpPr/>
          <p:nvPr/>
        </p:nvSpPr>
        <p:spPr>
          <a:xfrm>
            <a:off x="4214814" y="1095374"/>
            <a:ext cx="178593" cy="3614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219B43-E04B-6431-8F9B-8F4AEBB70607}"/>
              </a:ext>
            </a:extLst>
          </p:cNvPr>
          <p:cNvSpPr txBox="1"/>
          <p:nvPr/>
        </p:nvSpPr>
        <p:spPr>
          <a:xfrm>
            <a:off x="5279230" y="184477"/>
            <a:ext cx="3043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UI and UX of Google pay</a:t>
            </a:r>
            <a:endParaRPr lang="en-IN" sz="14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350BC-B9B8-FB73-A51B-D2800301ADC6}"/>
              </a:ext>
            </a:extLst>
          </p:cNvPr>
          <p:cNvSpPr txBox="1"/>
          <p:nvPr/>
        </p:nvSpPr>
        <p:spPr>
          <a:xfrm>
            <a:off x="4572000" y="490600"/>
            <a:ext cx="3921919" cy="5011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Google Pay UI :</a:t>
            </a:r>
          </a:p>
          <a:p>
            <a:r>
              <a:rPr lang="en-US" sz="1000" dirty="0">
                <a:solidFill>
                  <a:srgbClr val="002060"/>
                </a:solidFill>
              </a:rPr>
              <a:t>UI means </a:t>
            </a:r>
            <a:r>
              <a:rPr lang="en-US" sz="1000" b="1" dirty="0">
                <a:solidFill>
                  <a:srgbClr val="002060"/>
                </a:solidFill>
              </a:rPr>
              <a:t>what you see on the screen</a:t>
            </a:r>
            <a:r>
              <a:rPr lang="en-US" sz="1000" dirty="0">
                <a:solidFill>
                  <a:srgbClr val="002060"/>
                </a:solidFill>
              </a:rPr>
              <a:t>.</a:t>
            </a:r>
          </a:p>
          <a:p>
            <a:endParaRPr lang="en-US" sz="1000" dirty="0">
              <a:solidFill>
                <a:srgbClr val="002060"/>
              </a:solidFill>
            </a:endParaRPr>
          </a:p>
          <a:p>
            <a:r>
              <a:rPr lang="en-US" sz="1000" dirty="0">
                <a:solidFill>
                  <a:srgbClr val="002060"/>
                </a:solidFill>
              </a:rPr>
              <a:t>Examples: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Google Pay logo and colors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rgbClr val="002060"/>
                </a:solidFill>
              </a:rPr>
              <a:t>Pay anyone</a:t>
            </a:r>
            <a:r>
              <a:rPr lang="en-US" sz="1000" dirty="0">
                <a:solidFill>
                  <a:srgbClr val="002060"/>
                </a:solidFill>
              </a:rPr>
              <a:t> button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QR scanner icon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Send/Request money buttons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Bank account and balance sections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Transaction history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Icons, fonts, cards, and menus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Layout of the home screen </a:t>
            </a:r>
          </a:p>
          <a:p>
            <a:endParaRPr lang="en-US" sz="1000" b="1" dirty="0">
              <a:solidFill>
                <a:srgbClr val="002060"/>
              </a:solidFill>
              <a:latin typeface="Segoe UI Variable Text" pitchFamily="2" charset="0"/>
            </a:endParaRPr>
          </a:p>
          <a:p>
            <a:r>
              <a:rPr lang="en-US" sz="1000" b="1" dirty="0">
                <a:solidFill>
                  <a:srgbClr val="002060"/>
                </a:solidFill>
                <a:latin typeface="Segoe UI Variable Text" pitchFamily="2" charset="0"/>
              </a:rPr>
              <a:t>Google Pay UX :</a:t>
            </a:r>
          </a:p>
          <a:p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UX means </a:t>
            </a:r>
            <a:r>
              <a:rPr lang="en-US" sz="1000" b="1" dirty="0">
                <a:solidFill>
                  <a:srgbClr val="002060"/>
                </a:solidFill>
                <a:latin typeface="Segoe UI Variable Text" pitchFamily="2" charset="0"/>
              </a:rPr>
              <a:t>how easy and convenient it is to use Google Pay.</a:t>
            </a:r>
          </a:p>
          <a:p>
            <a:endParaRPr lang="en-US" sz="1000" dirty="0">
              <a:solidFill>
                <a:srgbClr val="002060"/>
              </a:solidFill>
              <a:latin typeface="Segoe UI Variable Text" pitchFamily="2" charset="0"/>
            </a:endParaRPr>
          </a:p>
          <a:p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Examples: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How easily you can find a person and send money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How quickly you can scan a QR code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How simple the payment process is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Clear confirmation after payment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Easy access to transaction history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Helpful error messages when a payment fails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  <a:latin typeface="Segoe UI Variable Text" pitchFamily="2" charset="0"/>
              </a:rPr>
              <a:t>How confidently and smoothly a user completes a payment</a:t>
            </a:r>
          </a:p>
          <a:p>
            <a:pPr>
              <a:spcBef>
                <a:spcPts val="1050"/>
              </a:spcBef>
              <a:spcAft>
                <a:spcPts val="263"/>
              </a:spcAft>
            </a:pPr>
            <a:r>
              <a:rPr lang="en-US" sz="1000" b="1" dirty="0">
                <a:solidFill>
                  <a:srgbClr val="0D0D0D"/>
                </a:solidFill>
                <a:latin typeface="Segoe UI Variable Text" pitchFamily="2" charset="0"/>
              </a:rPr>
              <a:t>Simple example</a:t>
            </a:r>
          </a:p>
          <a:p>
            <a:r>
              <a:rPr lang="en-US" sz="1000" b="1" dirty="0">
                <a:solidFill>
                  <a:srgbClr val="0D0D0D"/>
                </a:solidFill>
                <a:latin typeface="Segoe UI Variable Text" pitchFamily="2" charset="0"/>
              </a:rPr>
              <a:t>UI:</a:t>
            </a:r>
            <a:r>
              <a:rPr lang="en-US" sz="1000" dirty="0">
                <a:solidFill>
                  <a:srgbClr val="0D0D0D"/>
                </a:solidFill>
                <a:latin typeface="Segoe UI Variable Text" pitchFamily="2" charset="0"/>
              </a:rPr>
              <a:t> The QR-code scanner button is clearly visible on the home screen.</a:t>
            </a:r>
          </a:p>
          <a:p>
            <a:r>
              <a:rPr lang="en-US" sz="1000" b="1" dirty="0">
                <a:solidFill>
                  <a:srgbClr val="0D0D0D"/>
                </a:solidFill>
                <a:latin typeface="Segoe UI Variable Text" pitchFamily="2" charset="0"/>
              </a:rPr>
              <a:t>UX:</a:t>
            </a:r>
            <a:r>
              <a:rPr lang="en-US" sz="1000" dirty="0">
                <a:solidFill>
                  <a:srgbClr val="0D0D0D"/>
                </a:solidFill>
                <a:latin typeface="Segoe UI Variable Text" pitchFamily="2" charset="0"/>
              </a:rPr>
              <a:t> Because the scanner is easy to find, the user can quickly scan a shop's QR code and complete the payment without confusion.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782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2" name="type.wav"/>
          </p:stSnd>
        </p:sndAc>
      </p:transition>
    </mc:Choice>
    <mc:Fallback>
      <p:transition spd="slow">
        <p:pull/>
        <p:sndAc>
          <p:stSnd>
            <p:snd r:embed="rId2" name="type.wav"/>
          </p:stSnd>
        </p:sndAc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E7A1-FD75-F994-BD1E-045A22CC1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332059"/>
            <a:ext cx="3077027" cy="564356"/>
          </a:xfrm>
        </p:spPr>
        <p:txBody>
          <a:bodyPr>
            <a:normAutofit/>
          </a:bodyPr>
          <a:lstStyle/>
          <a:p>
            <a:r>
              <a:rPr lang="en-US" dirty="0">
                <a:latin typeface="Eras Bold ITC" panose="020B0907030504020204" pitchFamily="34" charset="0"/>
              </a:rPr>
              <a:t>4. YOUTUBE</a:t>
            </a:r>
            <a:endParaRPr lang="en-IN" dirty="0">
              <a:latin typeface="Eras Bold ITC" panose="020B0907030504020204" pitchFamily="34" charset="0"/>
            </a:endParaRPr>
          </a:p>
        </p:txBody>
      </p:sp>
      <p:pic>
        <p:nvPicPr>
          <p:cNvPr id="1028" name="Picture 4" descr="Youtube app - Ui redesign by Da Vinshi ™ on Dribbble">
            <a:extLst>
              <a:ext uri="{FF2B5EF4-FFF2-40B4-BE49-F238E27FC236}">
                <a16:creationId xmlns:a16="http://schemas.microsoft.com/office/drawing/2014/main" id="{BD58DE63-B3F0-0AE6-DC88-1EDFF304C83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7" y="1833534"/>
            <a:ext cx="3138488" cy="2353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EACFA2-1542-372E-84EF-AB5B0944FF87}"/>
              </a:ext>
            </a:extLst>
          </p:cNvPr>
          <p:cNvSpPr txBox="1"/>
          <p:nvPr/>
        </p:nvSpPr>
        <p:spPr>
          <a:xfrm>
            <a:off x="5384800" y="332059"/>
            <a:ext cx="29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Eras Bold ITC" panose="020B0907030504020204" pitchFamily="34" charset="0"/>
              </a:rPr>
              <a:t>UI and UX of YouTube</a:t>
            </a:r>
            <a:endParaRPr lang="en-IN" dirty="0">
              <a:solidFill>
                <a:srgbClr val="002060"/>
              </a:solidFill>
              <a:latin typeface="Eras Bold ITC" panose="020B0907030504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E8227-1DDC-82DC-4B41-0193C1F2DDDA}"/>
              </a:ext>
            </a:extLst>
          </p:cNvPr>
          <p:cNvSpPr/>
          <p:nvPr/>
        </p:nvSpPr>
        <p:spPr>
          <a:xfrm>
            <a:off x="3753644" y="986631"/>
            <a:ext cx="123371" cy="40476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9044FD-C601-632C-13F3-1BFCB24EDB39}"/>
              </a:ext>
            </a:extLst>
          </p:cNvPr>
          <p:cNvSpPr txBox="1"/>
          <p:nvPr/>
        </p:nvSpPr>
        <p:spPr>
          <a:xfrm>
            <a:off x="4143829" y="740295"/>
            <a:ext cx="469537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rgbClr val="002060"/>
                </a:solidFill>
              </a:rPr>
              <a:t>YouTube UI — User Interface :</a:t>
            </a:r>
          </a:p>
          <a:p>
            <a:r>
              <a:rPr lang="en-US" sz="900" dirty="0">
                <a:solidFill>
                  <a:srgbClr val="002060"/>
                </a:solidFill>
              </a:rPr>
              <a:t>UI is </a:t>
            </a:r>
            <a:r>
              <a:rPr lang="en-US" sz="900" b="1" dirty="0">
                <a:solidFill>
                  <a:srgbClr val="002060"/>
                </a:solidFill>
              </a:rPr>
              <a:t>what you see and interact with</a:t>
            </a:r>
            <a:r>
              <a:rPr lang="en-US" sz="900" dirty="0">
                <a:solidFill>
                  <a:srgbClr val="002060"/>
                </a:solidFill>
              </a:rPr>
              <a:t>.</a:t>
            </a:r>
          </a:p>
          <a:p>
            <a:endParaRPr lang="en-US" sz="900" dirty="0">
              <a:solidFill>
                <a:srgbClr val="002060"/>
              </a:solidFill>
            </a:endParaRPr>
          </a:p>
          <a:p>
            <a:r>
              <a:rPr lang="en-US" sz="900" dirty="0">
                <a:solidFill>
                  <a:srgbClr val="002060"/>
                </a:solidFill>
              </a:rPr>
              <a:t>Examples: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YouTube logo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Search bar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Subscribe button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Like, dislike, and share icons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Video thumbnails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Play/pause buttons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Comments section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Home, Shorts, Subscriptions buttons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Colors, fonts, icons, and page layout.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002060"/>
              </a:solidFill>
            </a:endParaRPr>
          </a:p>
          <a:p>
            <a:r>
              <a:rPr lang="en-US" sz="900" b="1" dirty="0">
                <a:solidFill>
                  <a:srgbClr val="002060"/>
                </a:solidFill>
              </a:rPr>
              <a:t>YouTube UX — User Experience :</a:t>
            </a:r>
          </a:p>
          <a:p>
            <a:r>
              <a:rPr lang="en-US" sz="900" dirty="0">
                <a:solidFill>
                  <a:srgbClr val="002060"/>
                </a:solidFill>
              </a:rPr>
              <a:t>UX is </a:t>
            </a:r>
            <a:r>
              <a:rPr lang="en-US" sz="900" b="1" dirty="0">
                <a:solidFill>
                  <a:srgbClr val="002060"/>
                </a:solidFill>
              </a:rPr>
              <a:t>how easy and enjoyable YouTube is to use</a:t>
            </a:r>
            <a:r>
              <a:rPr lang="en-US" sz="900" dirty="0">
                <a:solidFill>
                  <a:srgbClr val="002060"/>
                </a:solidFill>
              </a:rPr>
              <a:t>.</a:t>
            </a:r>
          </a:p>
          <a:p>
            <a:endParaRPr lang="en-US" sz="900" dirty="0">
              <a:solidFill>
                <a:srgbClr val="002060"/>
              </a:solidFill>
            </a:endParaRPr>
          </a:p>
          <a:p>
            <a:r>
              <a:rPr lang="en-US" sz="900" dirty="0">
                <a:solidFill>
                  <a:srgbClr val="002060"/>
                </a:solidFill>
              </a:rPr>
              <a:t>Examples: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Finding a video quickly using search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Getting useful video recommendations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Easily subscribing to a channel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Watching videos without confusion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Quickly adjusting video quality or playback speed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Finding and reading comments easily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Moving smoothly between Home, Shorts, and Subscriptions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solidFill>
                  <a:srgbClr val="002060"/>
                </a:solidFill>
              </a:rPr>
              <a:t>Getting relevant recommendations based on viewing history.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900" dirty="0">
              <a:solidFill>
                <a:srgbClr val="002060"/>
              </a:solidFill>
            </a:endParaRPr>
          </a:p>
          <a:p>
            <a:r>
              <a:rPr lang="en-US" sz="900" b="1" dirty="0">
                <a:solidFill>
                  <a:srgbClr val="002060"/>
                </a:solidFill>
              </a:rPr>
              <a:t>Simple example:</a:t>
            </a:r>
          </a:p>
          <a:p>
            <a:r>
              <a:rPr lang="en-US" sz="900" b="1" dirty="0">
                <a:solidFill>
                  <a:srgbClr val="002060"/>
                </a:solidFill>
              </a:rPr>
              <a:t>UI:</a:t>
            </a:r>
            <a:r>
              <a:rPr lang="en-US" sz="900" dirty="0">
                <a:solidFill>
                  <a:srgbClr val="002060"/>
                </a:solidFill>
              </a:rPr>
              <a:t> YouTube has a </a:t>
            </a:r>
            <a:r>
              <a:rPr lang="en-US" sz="900" b="1" dirty="0">
                <a:solidFill>
                  <a:srgbClr val="002060"/>
                </a:solidFill>
              </a:rPr>
              <a:t>red Subscribe button</a:t>
            </a:r>
            <a:r>
              <a:rPr lang="en-US" sz="900" dirty="0">
                <a:solidFill>
                  <a:srgbClr val="002060"/>
                </a:solidFill>
              </a:rPr>
              <a:t> below a video.</a:t>
            </a:r>
          </a:p>
          <a:p>
            <a:r>
              <a:rPr lang="en-US" sz="900" b="1" dirty="0">
                <a:solidFill>
                  <a:srgbClr val="002060"/>
                </a:solidFill>
              </a:rPr>
              <a:t>UX:</a:t>
            </a:r>
            <a:r>
              <a:rPr lang="en-US" sz="900" dirty="0">
                <a:solidFill>
                  <a:srgbClr val="002060"/>
                </a:solidFill>
              </a:rPr>
              <a:t> The button is easy to find and subscribe with one tap, making the experience simple.</a:t>
            </a:r>
          </a:p>
        </p:txBody>
      </p:sp>
    </p:spTree>
    <p:extLst>
      <p:ext uri="{BB962C8B-B14F-4D97-AF65-F5344CB8AC3E}">
        <p14:creationId xmlns:p14="http://schemas.microsoft.com/office/powerpoint/2010/main" val="3418567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2" name="type.wav"/>
          </p:stSnd>
        </p:sndAc>
      </p:transition>
    </mc:Choice>
    <mc:Fallback>
      <p:transition spd="slow">
        <p:pull/>
        <p:sndAc>
          <p:stSnd>
            <p:snd r:embed="rId2" name="type.wav"/>
          </p:stSnd>
        </p:sndAc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2DA4-6065-9548-64F8-AA06410B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457200"/>
            <a:ext cx="3062513" cy="500743"/>
          </a:xfrm>
        </p:spPr>
        <p:txBody>
          <a:bodyPr>
            <a:normAutofit fontScale="90000"/>
          </a:bodyPr>
          <a:lstStyle/>
          <a:p>
            <a:r>
              <a:rPr lang="en-US" dirty="0"/>
              <a:t>5</a:t>
            </a:r>
            <a:r>
              <a:rPr lang="en-US" b="1" dirty="0"/>
              <a:t>. LINKEDIN APP </a:t>
            </a:r>
            <a:endParaRPr lang="en-IN" b="1" dirty="0"/>
          </a:p>
        </p:txBody>
      </p:sp>
      <p:pic>
        <p:nvPicPr>
          <p:cNvPr id="6" name="Content Placeholder 5" descr="A group of cell phones with social media icons">
            <a:extLst>
              <a:ext uri="{FF2B5EF4-FFF2-40B4-BE49-F238E27FC236}">
                <a16:creationId xmlns:a16="http://schemas.microsoft.com/office/drawing/2014/main" id="{5457BE5C-619A-36B6-C874-6432A489762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5141" y="1204308"/>
            <a:ext cx="4034973" cy="3171457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1DF265-47AA-1F92-2B70-3AE54769194B}"/>
              </a:ext>
            </a:extLst>
          </p:cNvPr>
          <p:cNvSpPr txBox="1"/>
          <p:nvPr/>
        </p:nvSpPr>
        <p:spPr>
          <a:xfrm>
            <a:off x="5353153" y="399143"/>
            <a:ext cx="3282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  UI and UX of LINKEDIN</a:t>
            </a:r>
            <a:endParaRPr lang="en-IN" sz="2000" dirty="0">
              <a:solidFill>
                <a:srgbClr val="00206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6ED9BF-0CBD-4D6A-46ED-C5443436BB61}"/>
              </a:ext>
            </a:extLst>
          </p:cNvPr>
          <p:cNvSpPr/>
          <p:nvPr/>
        </p:nvSpPr>
        <p:spPr>
          <a:xfrm>
            <a:off x="4309672" y="876925"/>
            <a:ext cx="104931" cy="4092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6FA164-8E9D-F6B7-0BBB-B4D18A0AAE03}"/>
              </a:ext>
            </a:extLst>
          </p:cNvPr>
          <p:cNvSpPr txBox="1"/>
          <p:nvPr/>
        </p:nvSpPr>
        <p:spPr>
          <a:xfrm>
            <a:off x="4736892" y="1131757"/>
            <a:ext cx="420474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UI (User Interface)</a:t>
            </a:r>
            <a:r>
              <a:rPr lang="en-US" sz="1000" dirty="0">
                <a:solidFill>
                  <a:srgbClr val="002060"/>
                </a:solidFill>
              </a:rPr>
              <a:t> = What LinkedIn </a:t>
            </a:r>
            <a:r>
              <a:rPr lang="en-US" sz="1000" b="1" dirty="0">
                <a:solidFill>
                  <a:srgbClr val="002060"/>
                </a:solidFill>
              </a:rPr>
              <a:t>looks like</a:t>
            </a:r>
            <a:r>
              <a:rPr lang="en-US" sz="1000" dirty="0">
                <a:solidFill>
                  <a:srgbClr val="002060"/>
                </a:solidFill>
              </a:rPr>
              <a:t>.</a:t>
            </a:r>
          </a:p>
          <a:p>
            <a:r>
              <a:rPr lang="en-US" sz="1000" dirty="0">
                <a:solidFill>
                  <a:srgbClr val="002060"/>
                </a:solidFill>
              </a:rPr>
              <a:t>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Buttons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Colors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Fonts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Icons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Profile layout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Navigation bar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 </a:t>
            </a:r>
          </a:p>
          <a:p>
            <a:r>
              <a:rPr lang="en-US" sz="1000" b="1" dirty="0">
                <a:solidFill>
                  <a:srgbClr val="002060"/>
                </a:solidFill>
              </a:rPr>
              <a:t>UX (User Experience)</a:t>
            </a:r>
            <a:r>
              <a:rPr lang="en-US" sz="1000" dirty="0">
                <a:solidFill>
                  <a:srgbClr val="002060"/>
                </a:solidFill>
              </a:rPr>
              <a:t> = How LinkedIn </a:t>
            </a:r>
            <a:r>
              <a:rPr lang="en-US" sz="1000" b="1" dirty="0">
                <a:solidFill>
                  <a:srgbClr val="002060"/>
                </a:solidFill>
              </a:rPr>
              <a:t>works and feels</a:t>
            </a:r>
            <a:r>
              <a:rPr lang="en-US" sz="1000" dirty="0">
                <a:solidFill>
                  <a:srgbClr val="002060"/>
                </a:solidFill>
              </a:rPr>
              <a:t> when you use it.</a:t>
            </a:r>
          </a:p>
          <a:p>
            <a:r>
              <a:rPr lang="en-US" sz="1000" dirty="0">
                <a:solidFill>
                  <a:srgbClr val="002060"/>
                </a:solidFill>
              </a:rPr>
              <a:t>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How easy it is to create a profile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How simple it is to find jobs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How easily you can connect with people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How smooth the messaging experience is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rgbClr val="002060"/>
                </a:solidFill>
              </a:rPr>
              <a:t>How quickly you can find posts or information </a:t>
            </a:r>
          </a:p>
          <a:p>
            <a:pPr marL="628650" lvl="1" indent="-171450">
              <a:buFont typeface="Wingdings" panose="05000000000000000000" pitchFamily="2" charset="2"/>
              <a:buChar char="Ø"/>
            </a:pPr>
            <a:endParaRPr lang="en-US" sz="1000" dirty="0">
              <a:solidFill>
                <a:srgbClr val="002060"/>
              </a:solidFill>
            </a:endParaRPr>
          </a:p>
          <a:p>
            <a:r>
              <a:rPr lang="en-US" sz="1000" b="1" dirty="0">
                <a:solidFill>
                  <a:srgbClr val="002060"/>
                </a:solidFill>
              </a:rPr>
              <a:t>Simple example:</a:t>
            </a:r>
          </a:p>
          <a:p>
            <a:br>
              <a:rPr lang="en-US" sz="1000" dirty="0">
                <a:solidFill>
                  <a:srgbClr val="002060"/>
                </a:solidFill>
              </a:rPr>
            </a:br>
            <a:r>
              <a:rPr lang="en-US" sz="1000" dirty="0">
                <a:solidFill>
                  <a:srgbClr val="002060"/>
                </a:solidFill>
              </a:rPr>
              <a:t>LinkedIn's </a:t>
            </a:r>
            <a:r>
              <a:rPr lang="en-US" sz="1000" b="1" dirty="0">
                <a:solidFill>
                  <a:srgbClr val="002060"/>
                </a:solidFill>
              </a:rPr>
              <a:t>“Connect” button design</a:t>
            </a:r>
            <a:r>
              <a:rPr lang="en-US" sz="1000" dirty="0">
                <a:solidFill>
                  <a:srgbClr val="002060"/>
                </a:solidFill>
              </a:rPr>
              <a:t> → UI.</a:t>
            </a:r>
            <a:br>
              <a:rPr lang="en-US" sz="1000" dirty="0">
                <a:solidFill>
                  <a:srgbClr val="002060"/>
                </a:solidFill>
              </a:rPr>
            </a:br>
            <a:r>
              <a:rPr lang="en-US" sz="1000" dirty="0">
                <a:solidFill>
                  <a:srgbClr val="002060"/>
                </a:solidFill>
              </a:rPr>
              <a:t>The </a:t>
            </a:r>
            <a:r>
              <a:rPr lang="en-US" sz="1000" b="1" dirty="0">
                <a:solidFill>
                  <a:srgbClr val="002060"/>
                </a:solidFill>
              </a:rPr>
              <a:t>process of finding someone and sending a connection request easily</a:t>
            </a:r>
            <a:r>
              <a:rPr lang="en-US" sz="1000" dirty="0">
                <a:solidFill>
                  <a:srgbClr val="002060"/>
                </a:solidFill>
              </a:rPr>
              <a:t> → UX.</a:t>
            </a:r>
          </a:p>
          <a:p>
            <a:endParaRPr lang="en-IN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E11D-77CE-3744-970A-F1D842A1B2AF}"/>
              </a:ext>
            </a:extLst>
          </p:cNvPr>
          <p:cNvSpPr txBox="1"/>
          <p:nvPr/>
        </p:nvSpPr>
        <p:spPr>
          <a:xfrm>
            <a:off x="2287874" y="2382399"/>
            <a:ext cx="4575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UI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33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pull/>
        <p:sndAc>
          <p:stSnd>
            <p:snd r:embed="rId2" name="type.wav"/>
          </p:stSnd>
        </p:sndAc>
      </p:transition>
    </mc:Choice>
    <mc:Fallback>
      <p:transition spd="slow">
        <p:pull/>
        <p:sndAc>
          <p:stSnd>
            <p:snd r:embed="rId2" name="typ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118</TotalTime>
  <Words>1072</Words>
  <Application>Microsoft Office PowerPoint</Application>
  <PresentationFormat>On-screen Show (16:9)</PresentationFormat>
  <Paragraphs>244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Eras Bold ITC</vt:lpstr>
      <vt:lpstr>Segoe UI Variable Text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Play store APP </vt:lpstr>
      <vt:lpstr>2 .  WhatsApp APP</vt:lpstr>
      <vt:lpstr>3.   Google pay app </vt:lpstr>
      <vt:lpstr>4. YOUTUBE</vt:lpstr>
      <vt:lpstr>5. LINKEDIN APP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 r</cp:lastModifiedBy>
  <cp:revision>2</cp:revision>
  <dcterms:created xsi:type="dcterms:W3CDTF">2026-08-12T14:25:41Z</dcterms:created>
  <dcterms:modified xsi:type="dcterms:W3CDTF">2026-08-13T05:50:42Z</dcterms:modified>
</cp:coreProperties>
</file>